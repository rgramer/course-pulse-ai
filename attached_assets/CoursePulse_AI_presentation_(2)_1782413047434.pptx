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Dela Gothic One"/>
      <p:regular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DelaGothicOn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c55fee24_2_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dc55fee24_2_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dc55fee24_2_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dc55fee24_2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edc55fee24_2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dc55fee24_2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c55fee24_2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dc55fee24_2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dc55fee24_2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c55fee24_2_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dc55fee24_2_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dc55fee24_2_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dc55fee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dc55fee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c55fee2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c55fee2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c55fee24_2_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edc55fee24_2_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dc55fee24_2_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c55fee24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c55fee24_2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dc55fee24_2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dc55fee24_2_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edc55fee24_2_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dc55fee24_2_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dc55fee24_2_1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edc55fee24_2_1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dc55fee24_2_1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dc55fee24_2_1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dc55fee24_2_1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dc55fee24_2_1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dc55fee24_2_1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edc55fee24_2_1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dc55fee24_2_1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473943" y="699790"/>
            <a:ext cx="4020666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b="0" i="0" lang="en" sz="28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CoursePulse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473943" y="1348308"/>
            <a:ext cx="4767114" cy="2458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850"/>
              <a:buFont typeface="Dela Gothic One"/>
              <a:buNone/>
            </a:pPr>
            <a:r>
              <a:rPr b="0" i="0" lang="en" sz="3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Adaptive Learning Context Understanding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73943" y="4010323"/>
            <a:ext cx="4767114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Angelah Laba · Russel Gramer · Matthew Lukacs · David Petrusev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MS in Management and Analytics · Emerging Technologies – Summer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1191071" y="415826"/>
            <a:ext cx="599554" cy="156344"/>
          </a:xfrm>
          <a:prstGeom prst="roundRect">
            <a:avLst>
              <a:gd fmla="val 20008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1246882" y="443731"/>
            <a:ext cx="945133" cy="100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1191071" y="597768"/>
            <a:ext cx="6761783" cy="612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00"/>
              <a:buFont typeface="Dela Gothic One"/>
              <a:buNone/>
            </a:pPr>
            <a:r>
              <a:rPr b="0" i="0" lang="en" sz="19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Higher Education Has a Feedback Latency Problem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1191071" y="1306190"/>
            <a:ext cx="7218983" cy="125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Professors discover student confusion </a:t>
            </a:r>
            <a:r>
              <a:rPr b="1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after</a:t>
            </a: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quizzes, assignments, and exams — when it's too late to adjust instruction.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071" y="1503759"/>
            <a:ext cx="465460" cy="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1720528" y="1596851"/>
            <a:ext cx="1224930" cy="15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1071" y="2062311"/>
            <a:ext cx="465460" cy="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1720528" y="2155403"/>
            <a:ext cx="1288926" cy="15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Confusion Occurs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071" y="2620863"/>
            <a:ext cx="465460" cy="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1720528" y="2713955"/>
            <a:ext cx="1674763" cy="15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Assignment Submitted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1071" y="3179415"/>
            <a:ext cx="465460" cy="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/>
          <p:nvPr/>
        </p:nvSpPr>
        <p:spPr>
          <a:xfrm>
            <a:off x="1720528" y="3272507"/>
            <a:ext cx="1354485" cy="15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Poor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1071" y="3737967"/>
            <a:ext cx="465460" cy="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1720528" y="3831059"/>
            <a:ext cx="1224930" cy="15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Faculty Notices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191071" y="4368478"/>
            <a:ext cx="6761783" cy="287238"/>
          </a:xfrm>
          <a:prstGeom prst="roundRect">
            <a:avLst>
              <a:gd fmla="val 13613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4163" y="4489028"/>
            <a:ext cx="116309" cy="9309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1493565" y="4449291"/>
            <a:ext cx="6823397" cy="125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Key Insight:</a:t>
            </a:r>
            <a:r>
              <a:rPr b="0" i="0" lang="en" sz="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Students already signal confusion through reflections — but those signals are unstructured and hard to analyze at scale.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47691" y="1584201"/>
            <a:ext cx="40005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6-18 at 1.48.21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48195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1114276" y="422523"/>
            <a:ext cx="651272" cy="160809"/>
          </a:xfrm>
          <a:prstGeom prst="roundRect">
            <a:avLst>
              <a:gd fmla="val 19894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1171352" y="451024"/>
            <a:ext cx="994321" cy="103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OUR SOLUTION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1114276" y="610046"/>
            <a:ext cx="4648498" cy="313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Introducing CoursePulse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114276" y="1023565"/>
            <a:ext cx="7372648" cy="129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 AI-powered faculty learning intelligence platform that transforms student reflections into </a:t>
            </a:r>
            <a:r>
              <a:rPr b="1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actionable instructional insights</a:t>
            </a: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in real time.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8"/>
          <p:cNvPicPr preferRelativeResize="0"/>
          <p:nvPr/>
        </p:nvPicPr>
        <p:blipFill rotWithShape="1">
          <a:blip r:embed="rId3">
            <a:alphaModFix/>
          </a:blip>
          <a:srcRect b="28522" l="-3470" r="3470" t="24506"/>
          <a:stretch/>
        </p:blipFill>
        <p:spPr>
          <a:xfrm>
            <a:off x="4599502" y="2904550"/>
            <a:ext cx="2790629" cy="13108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4692848" y="1695113"/>
            <a:ext cx="2230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 CoursePulse Does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692848" y="1918616"/>
            <a:ext cx="33417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Supports faculty decision-making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Improves visibility into student learning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692848" y="2268414"/>
            <a:ext cx="37989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But it doesn't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692886" y="2398318"/>
            <a:ext cx="3341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Does not grade or rank students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Does not predict failure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Does not surveil students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8" title="Screenshot 2026-06-18 at 1.48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195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Screenshot 2026-06-18 at 4.46.1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275" y="1295818"/>
            <a:ext cx="3390614" cy="3685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1421606" y="387623"/>
            <a:ext cx="590922" cy="143024"/>
          </a:xfrm>
          <a:prstGeom prst="roundRect">
            <a:avLst>
              <a:gd fmla="val 20380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1473622" y="413593"/>
            <a:ext cx="944091" cy="91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00"/>
              <a:buFont typeface="DM Sans"/>
              <a:buNone/>
            </a:pPr>
            <a:r>
              <a:rPr b="0" i="0" lang="en" sz="5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 JOURNEY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421606" y="552822"/>
            <a:ext cx="6385471" cy="2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50"/>
              <a:buFont typeface="Dela Gothic One"/>
              <a:buNone/>
            </a:pPr>
            <a:r>
              <a:rPr b="0" i="0" lang="en" sz="17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From Reflection to Action: The Full Workflow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600" y="921550"/>
            <a:ext cx="6300723" cy="35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/>
          <p:nvPr/>
        </p:nvSpPr>
        <p:spPr>
          <a:xfrm>
            <a:off x="1421606" y="4528170"/>
            <a:ext cx="6300713" cy="227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650"/>
              <a:buFont typeface="DM Sans"/>
              <a:buNone/>
            </a:pPr>
            <a:r>
              <a:rPr b="0" i="0" lang="en" sz="6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The student experience is lightweight — a structured reflection in minutes. The AI layer operates invisibly, mapping context and classifying signals. Faculty receive a clean, aggregated dashboard ready for instructional decisions.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9" title="Screenshot 2026-06-18 at 1.48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8195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 title="Screenshot 2026-06-18 at 1.48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195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Screenshot 2026-06-18 at 2.25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25" y="479450"/>
            <a:ext cx="2247468" cy="19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title="Screenshot 2026-06-18 at 2.28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4112" y="488875"/>
            <a:ext cx="2106081" cy="18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Screenshot 2026-06-18 at 2.28.4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3399" y="479452"/>
            <a:ext cx="2006981" cy="1896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Screenshot 2026-06-18 at 2.28.56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4300" y="2691714"/>
            <a:ext cx="1968075" cy="212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Screenshot 2026-06-18 at 2.29.06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04034" y="2638538"/>
            <a:ext cx="2097863" cy="21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0" y="0"/>
            <a:ext cx="3958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Student </a:t>
            </a:r>
            <a:r>
              <a:rPr lang="en" sz="17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Perspective</a:t>
            </a:r>
            <a:r>
              <a:rPr lang="en" sz="17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2844050" y="1364100"/>
            <a:ext cx="490200" cy="2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5867450" y="1364100"/>
            <a:ext cx="490200" cy="2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3434463" y="3578588"/>
            <a:ext cx="490200" cy="2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355550" y="3631763"/>
            <a:ext cx="490200" cy="2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6459463" y="3578588"/>
            <a:ext cx="490200" cy="2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 title="Screenshot 2026-06-18 at 2.36.24 PM.png"/>
          <p:cNvPicPr preferRelativeResize="0"/>
          <p:nvPr/>
        </p:nvPicPr>
        <p:blipFill rotWithShape="1">
          <a:blip r:embed="rId9">
            <a:alphaModFix/>
          </a:blip>
          <a:srcRect b="15622" l="24385" r="24267" t="17332"/>
          <a:stretch/>
        </p:blipFill>
        <p:spPr>
          <a:xfrm>
            <a:off x="7104950" y="2638550"/>
            <a:ext cx="1877501" cy="20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 title="Screenshot 2026-06-18 at 1.48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195" y="4798501"/>
            <a:ext cx="1583825" cy="3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Screenshot 2026-06-18 at 2.50.21 PM.png"/>
          <p:cNvPicPr preferRelativeResize="0"/>
          <p:nvPr/>
        </p:nvPicPr>
        <p:blipFill rotWithShape="1">
          <a:blip r:embed="rId4">
            <a:alphaModFix/>
          </a:blip>
          <a:srcRect b="0" l="12478" r="13732" t="0"/>
          <a:stretch/>
        </p:blipFill>
        <p:spPr>
          <a:xfrm>
            <a:off x="547900" y="589775"/>
            <a:ext cx="1836524" cy="19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0" y="0"/>
            <a:ext cx="3000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Faculty </a:t>
            </a:r>
            <a:r>
              <a:rPr lang="en" sz="17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Perspective</a:t>
            </a:r>
            <a:endParaRPr/>
          </a:p>
        </p:txBody>
      </p:sp>
      <p:pic>
        <p:nvPicPr>
          <p:cNvPr id="140" name="Google Shape;140;p21" title="Screenshot 2026-06-18 at 2.51.0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3350" y="531425"/>
            <a:ext cx="2615444" cy="17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 title="Screenshot 2026-06-18 at 2.51.3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293" y="2870750"/>
            <a:ext cx="2256845" cy="175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 title="Screenshot 2026-06-18 at 2.51.5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48275" y="2920600"/>
            <a:ext cx="3000002" cy="125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 title="Screenshot 2026-06-18 at 2.52.12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93352" y="2966800"/>
            <a:ext cx="2713252" cy="156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43325" y="642300"/>
            <a:ext cx="2256850" cy="170786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/>
          <p:nvPr/>
        </p:nvSpPr>
        <p:spPr>
          <a:xfrm>
            <a:off x="2627225" y="1373700"/>
            <a:ext cx="310200" cy="17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5768812" y="1385850"/>
            <a:ext cx="255900" cy="14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2546622" y="3460112"/>
            <a:ext cx="255900" cy="171300"/>
          </a:xfrm>
          <a:prstGeom prst="rightArrow">
            <a:avLst>
              <a:gd fmla="val 50000" name="adj1"/>
              <a:gd fmla="val 446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5915725" y="3534150"/>
            <a:ext cx="297000" cy="12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73943" y="431974"/>
            <a:ext cx="657746" cy="254422"/>
          </a:xfrm>
          <a:prstGeom prst="roundRect">
            <a:avLst>
              <a:gd fmla="val 17883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555129" y="472529"/>
            <a:ext cx="952574" cy="1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 CASE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473943" y="740494"/>
            <a:ext cx="6025009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b="0" i="0" lang="en" sz="28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Seeing the Signal in Action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473943" y="1524372"/>
            <a:ext cx="3378994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00"/>
              <a:buFont typeface="Dela Gothic One"/>
              <a:buNone/>
            </a:pPr>
            <a:r>
              <a:rPr b="0" i="0" lang="en" sz="14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Example Student Reflection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473943" y="1882378"/>
            <a:ext cx="4390058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Topic: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Diffusion of Innovation Theory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73943" y="2251397"/>
            <a:ext cx="19050" cy="676945"/>
          </a:xfrm>
          <a:prstGeom prst="roundRect">
            <a:avLst>
              <a:gd fmla="val 60000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677019" y="2373213"/>
            <a:ext cx="372978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"I understand the theory, but I struggle to apply it to real companies."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73943" y="3080742"/>
            <a:ext cx="22388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00"/>
              <a:buFont typeface="Dela Gothic One"/>
              <a:buNone/>
            </a:pPr>
            <a:r>
              <a:rPr b="0" i="0" lang="en" sz="14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AI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73943" y="3438748"/>
            <a:ext cx="3932858" cy="1225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Primary Signal: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Application Gap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Secondary Signal: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Confidence Concern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Topic: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Diffusion of Innovation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Suggested Action: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Provide real-world case studies and application exercises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644405" y="1389013"/>
            <a:ext cx="4127971" cy="3322513"/>
          </a:xfrm>
          <a:prstGeom prst="roundRect">
            <a:avLst>
              <a:gd fmla="val 2934" name="adj"/>
            </a:avLst>
          </a:prstGeom>
          <a:solidFill>
            <a:srgbClr val="C91313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4779764" y="1524372"/>
            <a:ext cx="230661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00"/>
              <a:buFont typeface="Dela Gothic One"/>
              <a:buNone/>
            </a:pPr>
            <a:r>
              <a:rPr b="0" i="0" lang="en" sz="14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Why This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4779764" y="1882378"/>
            <a:ext cx="3857253" cy="988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student </a:t>
            </a:r>
            <a:r>
              <a:rPr b="1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knows</a:t>
            </a:r>
            <a:r>
              <a:rPr b="0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concept. The problem is not comprehension — it's </a:t>
            </a:r>
            <a:r>
              <a:rPr b="1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application</a:t>
            </a:r>
            <a:r>
              <a:rPr b="0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9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That distinction helps professors respond correctly, with targeted support rather than re-teaching.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2" title="Screenshot 2026-06-18 at 1.48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195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473943" y="392088"/>
            <a:ext cx="594866" cy="218256"/>
          </a:xfrm>
          <a:prstGeom prst="roundRect">
            <a:avLst>
              <a:gd fmla="val 18567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546274" y="428253"/>
            <a:ext cx="907405" cy="14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50"/>
              <a:buFont typeface="DM Sans"/>
              <a:buNone/>
            </a:pPr>
            <a:r>
              <a:rPr b="0" i="0" lang="en" sz="7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AI ENGINE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473943" y="653281"/>
            <a:ext cx="8196114" cy="793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450"/>
              <a:buFont typeface="Dela Gothic One"/>
              <a:buNone/>
            </a:pPr>
            <a:r>
              <a:rPr b="0" i="0" lang="en" sz="24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Learning Signal Classification Framework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473943" y="1607790"/>
            <a:ext cx="8196114" cy="2283693"/>
          </a:xfrm>
          <a:prstGeom prst="roundRect">
            <a:avLst>
              <a:gd fmla="val 2218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599331" y="1681758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1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Signal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3057674" y="1681758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1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What It Means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599331" y="2007319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Definitional Confusion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3057674" y="2007319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Student doesn't understand the core concept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599331" y="2332881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Application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3057674" y="2332881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Cannot apply concept to a scenario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99331" y="2658442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Transfer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3057674" y="2658442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Cannot connect concept to new situations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599331" y="2984004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Pacing Concern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3057674" y="2984004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Course is moving too fast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599331" y="3309565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Support Need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3057674" y="3309565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Student needs additional resources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99331" y="3635127"/>
            <a:ext cx="2669679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Engagement 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3057674" y="3635127"/>
            <a:ext cx="5944270" cy="182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00"/>
              <a:buFont typeface="DM Sans"/>
              <a:buNone/>
            </a:pPr>
            <a:r>
              <a:rPr b="0" i="0" lang="en" sz="9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Positive interest or participation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473943" y="4012257"/>
            <a:ext cx="8196114" cy="618381"/>
          </a:xfrm>
          <a:prstGeom prst="roundRect">
            <a:avLst>
              <a:gd fmla="val 8191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94" y="4181252"/>
            <a:ext cx="150688" cy="12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865733" y="4139059"/>
            <a:ext cx="7683773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b="0" i="0" lang="en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"The lecture made sense, but I could not complete the case study." → </a:t>
            </a:r>
            <a:r>
              <a:rPr b="1" i="0" lang="en" sz="9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Application Gap</a:t>
            </a:r>
            <a:r>
              <a:rPr b="0" i="0" lang="en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→ Mapped to Learning Objective → Added to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 title="Screenshot 2026-06-18 at 1.48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170" y="4786826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1959471" y="421630"/>
            <a:ext cx="494258" cy="113556"/>
          </a:xfrm>
          <a:prstGeom prst="roundRect">
            <a:avLst>
              <a:gd fmla="val 21286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2002631" y="443210"/>
            <a:ext cx="865138" cy="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450"/>
              <a:buFont typeface="DM Sans"/>
              <a:buNone/>
            </a:pPr>
            <a:r>
              <a:rPr b="0" i="0" lang="en" sz="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1959471" y="550441"/>
            <a:ext cx="2885703" cy="236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50"/>
              <a:buFont typeface="Dela Gothic One"/>
              <a:buNone/>
            </a:pPr>
            <a:r>
              <a:rPr b="0" i="0" lang="en" sz="14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Solution Architecture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471" y="844376"/>
            <a:ext cx="5224983" cy="23911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/>
          <p:nvPr/>
        </p:nvSpPr>
        <p:spPr>
          <a:xfrm>
            <a:off x="5786772" y="1094707"/>
            <a:ext cx="1273948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Interface &amp; Controls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5786772" y="1440002"/>
            <a:ext cx="1273948" cy="176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Student Interface, Faculty Dashboard, Governance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2083075" y="1880650"/>
            <a:ext cx="117121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Processing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2083075" y="2225946"/>
            <a:ext cx="1171210" cy="176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Aggregation Layer and Course Context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786772" y="2362475"/>
            <a:ext cx="1216559" cy="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b="0" i="0" lang="en" sz="9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Core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5786772" y="2555670"/>
            <a:ext cx="1273948" cy="176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Learning Signal Engine for AI classification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1959471" y="3278460"/>
            <a:ext cx="5224983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CoursePulse operates as a clean, layered pipeline — from student input through AI classification to faculty-facing insights, all governed by responsible AI controls.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1959471" y="3497610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2036118" y="3574256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Frontend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2036118" y="3715494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591050" y="3497610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4667696" y="3574256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Backend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667696" y="3715494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1959471" y="3918421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2036118" y="3995068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Database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2036118" y="4136306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SQLite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591050" y="3918421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4667696" y="3995068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AI Layer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667696" y="4136306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OpenAI API / Prompt Classification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959471" y="4339233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2036118" y="4415879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Deployment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2036118" y="4557117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Replit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591050" y="4339233"/>
            <a:ext cx="2593404" cy="382637"/>
          </a:xfrm>
          <a:prstGeom prst="roundRect">
            <a:avLst>
              <a:gd fmla="val 7896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4667696" y="4415879"/>
            <a:ext cx="946547" cy="11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ela Gothic One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Version Control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67696" y="4557117"/>
            <a:ext cx="2440112" cy="8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50"/>
              <a:buFont typeface="DM Sans"/>
              <a:buNone/>
            </a:pPr>
            <a:r>
              <a:rPr b="0" i="0" lang="en" sz="5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GitHub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4" title="Screenshot 2026-06-18 at 1.48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845" y="4794151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473943" y="384125"/>
            <a:ext cx="1258044" cy="254422"/>
          </a:xfrm>
          <a:prstGeom prst="roundRect">
            <a:avLst>
              <a:gd fmla="val 17883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555129" y="424681"/>
            <a:ext cx="1552873" cy="173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FACULTY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473943" y="692646"/>
            <a:ext cx="6009754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b="0" i="0" lang="en" sz="28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Faculty Dashboard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1493490"/>
            <a:ext cx="3932858" cy="28308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/>
          <p:nvPr/>
        </p:nvSpPr>
        <p:spPr>
          <a:xfrm>
            <a:off x="4741962" y="1476524"/>
            <a:ext cx="300900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400"/>
              <a:buFont typeface="Dela Gothic One"/>
              <a:buNone/>
            </a:pPr>
            <a:r>
              <a:rPr b="0" i="0" lang="en" sz="14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Dashboard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741962" y="1834530"/>
            <a:ext cx="3932858" cy="1875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Signal Distribution Chart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visual breakdown of learning signals across the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Top Confusion Topics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ranked list of concepts students struggle with most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Confidence Trend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week-over-week trajectory (W1: 4.2 → W2: 3.8 → W3: 3.4)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Char char="•"/>
            </a:pPr>
            <a:r>
              <a:rPr b="1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Recommended Action</a:t>
            </a:r>
            <a:r>
              <a:rPr b="0" i="0" lang="en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AI-generated instructional guidance for faculty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4741962" y="3862388"/>
            <a:ext cx="3932858" cy="744587"/>
          </a:xfrm>
          <a:prstGeom prst="roundRect">
            <a:avLst>
              <a:gd fmla="val 7638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7321" y="4065463"/>
            <a:ext cx="169218" cy="1353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5181898" y="4017987"/>
            <a:ext cx="3357563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"Students understand theory but struggle applying concepts to case studies."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5" title="Screenshot 2026-06-18 at 1.48.2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4195" y="4826751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/>
          <p:nvPr/>
        </p:nvSpPr>
        <p:spPr>
          <a:xfrm>
            <a:off x="473943" y="424979"/>
            <a:ext cx="818555" cy="203225"/>
          </a:xfrm>
          <a:prstGeom prst="roundRect">
            <a:avLst>
              <a:gd fmla="val 18890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542479" y="459209"/>
            <a:ext cx="1138684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RESPONSIBLE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473943" y="666750"/>
            <a:ext cx="4767114" cy="75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Human-Centered Governance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473943" y="1563067"/>
            <a:ext cx="476711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CoursePulse is designed with clear ethical boundaries. Faculty remain the decision-makers — AI provides visibility, not judgment.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473943" y="2008436"/>
            <a:ext cx="4767114" cy="2710086"/>
          </a:xfrm>
          <a:prstGeom prst="roundRect">
            <a:avLst>
              <a:gd fmla="val 1771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478706" y="2013198"/>
            <a:ext cx="4757589" cy="1249189"/>
          </a:xfrm>
          <a:prstGeom prst="rect">
            <a:avLst/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/>
          <p:nvPr/>
        </p:nvSpPr>
        <p:spPr>
          <a:xfrm>
            <a:off x="592931" y="2127424"/>
            <a:ext cx="2817540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 CoursePulse Will Never 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592931" y="2373139"/>
            <a:ext cx="4529138" cy="7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Grade or rank students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Predict failure or flag at-risk students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Generate academic penalties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Monitor behavior or diagnose mental health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478706" y="3262387"/>
            <a:ext cx="4757589" cy="1451372"/>
          </a:xfrm>
          <a:prstGeom prst="rect">
            <a:avLst/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478706" y="3262387"/>
            <a:ext cx="4757589" cy="14288"/>
          </a:xfrm>
          <a:prstGeom prst="roundRect">
            <a:avLst>
              <a:gd fmla="val 335857" name="adj"/>
            </a:avLst>
          </a:prstGeom>
          <a:solidFill>
            <a:srgbClr val="8D2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592931" y="3376613"/>
            <a:ext cx="2735461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Privacy &amp; Compliance Controls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92931" y="3622328"/>
            <a:ext cx="4529138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Aggregate reporting only — no individual surveillance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Faculty review required before any 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Data minimization by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Transparency disclosures built 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FERPA-aware assumptions throughout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/>
          <p:nvPr/>
        </p:nvSpPr>
        <p:spPr>
          <a:xfrm>
            <a:off x="473943" y="399678"/>
            <a:ext cx="571649" cy="203225"/>
          </a:xfrm>
          <a:prstGeom prst="roundRect">
            <a:avLst>
              <a:gd fmla="val 18890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542479" y="433908"/>
            <a:ext cx="891778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ROADMAP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473943" y="641449"/>
            <a:ext cx="5284217" cy="375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MVP Scope &amp; Future Vision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473943" y="1258267"/>
            <a:ext cx="1960513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MVP Phases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73943" y="1554584"/>
            <a:ext cx="228451" cy="142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ela Gothic One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473943" y="1734443"/>
            <a:ext cx="3958679" cy="1428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473943" y="1820094"/>
            <a:ext cx="2184276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Student Reflection 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473943" y="2190006"/>
            <a:ext cx="228451" cy="142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ela Gothic One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473943" y="2369865"/>
            <a:ext cx="3958679" cy="1428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473943" y="2455515"/>
            <a:ext cx="2300213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Course Context Database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473943" y="2825428"/>
            <a:ext cx="228451" cy="142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ela Gothic One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473943" y="3005286"/>
            <a:ext cx="3958679" cy="1428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473943" y="3090937"/>
            <a:ext cx="2117824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AI Signal Classification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473943" y="3460849"/>
            <a:ext cx="228451" cy="142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ela Gothic One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473943" y="3640708"/>
            <a:ext cx="3958679" cy="1428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473943" y="3726359"/>
            <a:ext cx="1693292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Faculty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473943" y="4096271"/>
            <a:ext cx="228451" cy="142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ela Gothic One"/>
              <a:buNone/>
            </a:pPr>
            <a:r>
              <a:rPr b="0" i="0" lang="en" sz="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473943" y="4276130"/>
            <a:ext cx="3958679" cy="1428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473943" y="4361780"/>
            <a:ext cx="1626096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Governance Layer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4716140" y="1258267"/>
            <a:ext cx="1960513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Current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4716140" y="1542529"/>
            <a:ext cx="3958679" cy="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✅</a:t>
            </a: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Problem Definition · User Research · Signal Taxonomy · Governance Framework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🔄</a:t>
            </a: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Replit Development · Reflection Dataset · Dashboard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⏳</a:t>
            </a: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Integration Testing · End-to-End Demo · Final Presentation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716140" y="2394496"/>
            <a:ext cx="2026221" cy="1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150"/>
              <a:buFont typeface="Dela Gothic One"/>
              <a:buNone/>
            </a:pPr>
            <a:r>
              <a:rPr b="0" i="0" lang="en" sz="11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Future Expansion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4716140" y="2678757"/>
            <a:ext cx="3958679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Student Success Analytics — track class-wide trends over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LMS Integration — Canvas, Blackboard, Brightspace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Char char="•"/>
            </a:pPr>
            <a:r>
              <a:rPr b="0" i="0" lang="en" sz="8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Research Opportunities — NYU SPS AI Lab, DSI Publication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7" title="Screenshot 2026-06-18 at 1.48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545" y="4826751"/>
            <a:ext cx="1583825" cy="3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